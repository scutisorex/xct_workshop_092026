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59" r:id="rId13"/>
    <p:sldId id="260" r:id="rId14"/>
    <p:sldId id="261" r:id="rId15"/>
    <p:sldId id="279" r:id="rId16"/>
    <p:sldId id="280" r:id="rId17"/>
    <p:sldId id="271" r:id="rId18"/>
    <p:sldId id="272" r:id="rId19"/>
    <p:sldId id="278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634">
          <p15:clr>
            <a:srgbClr val="A4A3A4"/>
          </p15:clr>
        </p15:guide>
        <p15:guide id="2" pos="71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gTiVL7OVRfYFgP6Xie/n/Opf1z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3B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16" y="84"/>
      </p:cViewPr>
      <p:guideLst>
        <p:guide orient="horz" pos="3634"/>
        <p:guide pos="7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03c0a768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03c0a7681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403c0a7681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answer is pretty straightforward: you take a lot of xrays and put them all together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In medical CT machines, the patient stays still and the xray apparatus spins around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In smaller CT machines like I will discuss today, the specimen rotates instead. 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Either way you get a series of Xrays of your object from every angle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2" name="Google Shape;15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where the “computed” part really starts to become apparent: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You take your xrays from every angle (projections), and you give them to a piece of software that puts them all together to make a series of slices through the object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This is based on the density information it gets from the individual xrays, and the number of xrays you take as you spin it around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So then your slices look like this: showing the dense parts of the image, here the skull.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Denser things are brighter on the scan (whiter), less dense things are less bright)</a:t>
            </a:r>
            <a:endParaRPr/>
          </a:p>
        </p:txBody>
      </p:sp>
      <p:sp>
        <p:nvSpPr>
          <p:cNvPr id="219" name="Google Shape;21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47d5a6b19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47d5a6b19c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347d5a6b19c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47d5a6b19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47d5a6b19c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347d5a6b19c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Those slices go into another program that takes them and makes a 3d model!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You can tell this program to show you only the bright/dense things (e.g., skeleton), or only the dimmer/less dense things (e.g., furry outside).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/>
              <a:t>You can take get a qualitative sense of an internal structure, take measurements, make 3D models, cut out parts that you want to measure or inspect… there are any number of uses for a scanned object!</a:t>
            </a:r>
            <a:endParaRPr/>
          </a:p>
        </p:txBody>
      </p:sp>
      <p:sp>
        <p:nvSpPr>
          <p:cNvPr id="255" name="Google Shape;25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It is also a machine for making beautiful 3D models of shrews, which should be considered its primary purpose</a:t>
            </a:r>
            <a:endParaRPr/>
          </a:p>
        </p:txBody>
      </p:sp>
      <p:sp>
        <p:nvSpPr>
          <p:cNvPr id="107" name="Google Shape;10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A624EE2-2574-DB11-5B65-86501761A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>
            <a:extLst>
              <a:ext uri="{FF2B5EF4-FFF2-40B4-BE49-F238E27FC236}">
                <a16:creationId xmlns:a16="http://schemas.microsoft.com/office/drawing/2014/main" id="{60A9D077-E91B-554F-E865-FD3FB6BB73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6:notes">
            <a:extLst>
              <a:ext uri="{FF2B5EF4-FFF2-40B4-BE49-F238E27FC236}">
                <a16:creationId xmlns:a16="http://schemas.microsoft.com/office/drawing/2014/main" id="{6A1DB29D-3773-E134-376F-96DC44DFD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0254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932CEF3C-937B-1DC4-4D04-1B5418EC5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>
            <a:extLst>
              <a:ext uri="{FF2B5EF4-FFF2-40B4-BE49-F238E27FC236}">
                <a16:creationId xmlns:a16="http://schemas.microsoft.com/office/drawing/2014/main" id="{42D6D3A4-3B86-52BD-0F08-27966B9B96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6:notes">
            <a:extLst>
              <a:ext uri="{FF2B5EF4-FFF2-40B4-BE49-F238E27FC236}">
                <a16:creationId xmlns:a16="http://schemas.microsoft.com/office/drawing/2014/main" id="{9D279756-91AE-FF4C-C222-DD12314CD1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2509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" name="Google Shape;2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1" name="Google Shape;43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jp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1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873975" y="885874"/>
            <a:ext cx="10573838" cy="5077773"/>
            <a:chOff x="1017412" y="751400"/>
            <a:chExt cx="10573838" cy="5077773"/>
          </a:xfrm>
        </p:grpSpPr>
        <p:pic>
          <p:nvPicPr>
            <p:cNvPr id="89" name="Google Shape;89;p1"/>
            <p:cNvPicPr preferRelativeResize="0"/>
            <p:nvPr/>
          </p:nvPicPr>
          <p:blipFill rotWithShape="1">
            <a:blip r:embed="rId3">
              <a:alphaModFix/>
            </a:blip>
            <a:srcRect l="-565" t="-5287" r="-11036" b="-747"/>
            <a:stretch/>
          </p:blipFill>
          <p:spPr>
            <a:xfrm>
              <a:off x="1089131" y="1881189"/>
              <a:ext cx="4155223" cy="39479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"/>
            <p:cNvSpPr txBox="1"/>
            <p:nvPr/>
          </p:nvSpPr>
          <p:spPr>
            <a:xfrm>
              <a:off x="1017412" y="751400"/>
              <a:ext cx="1057383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lang="en-US" sz="7200" b="0" i="0" u="none" strike="noStrike" cap="none" dirty="0" smtClean="0">
                  <a:solidFill>
                    <a:srgbClr val="0E134E"/>
                  </a:solidFill>
                  <a:latin typeface="Arial"/>
                  <a:ea typeface="Arial"/>
                  <a:cs typeface="Arial"/>
                  <a:sym typeface="Arial"/>
                </a:rPr>
                <a:t>XCT data workshop 202</a:t>
              </a:r>
              <a:r>
                <a:rPr lang="en-US" sz="7200" dirty="0" smtClean="0">
                  <a:solidFill>
                    <a:srgbClr val="0E134E"/>
                  </a:solidFill>
                </a:rPr>
                <a:t>6</a:t>
              </a:r>
              <a:r>
                <a:rPr lang="en-US" sz="7200" b="0" i="0" u="none" strike="noStrike" cap="none" dirty="0" smtClean="0">
                  <a:solidFill>
                    <a:srgbClr val="0E134E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4723722" y="2367171"/>
              <a:ext cx="6688200" cy="21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dirty="0" smtClean="0">
                  <a:solidFill>
                    <a:srgbClr val="44AE8A"/>
                  </a:solidFill>
                </a:rPr>
                <a:t>September 23, 2026</a:t>
              </a:r>
              <a:endParaRPr sz="4400" dirty="0">
                <a:solidFill>
                  <a:srgbClr val="44AE8A"/>
                </a:solidFill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0" i="0" u="none" strike="noStrike" cap="none" dirty="0">
                  <a:solidFill>
                    <a:srgbClr val="44AE8A"/>
                  </a:solidFill>
                  <a:latin typeface="Arial"/>
                  <a:ea typeface="Arial"/>
                  <a:cs typeface="Arial"/>
                  <a:sym typeface="Arial"/>
                </a:rPr>
                <a:t>Field Museum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lang="en-US" sz="4400" b="0" i="0" u="none" strike="noStrike" cap="none" dirty="0">
                  <a:solidFill>
                    <a:srgbClr val="44AE8A"/>
                  </a:solidFill>
                  <a:latin typeface="Arial"/>
                  <a:ea typeface="Arial"/>
                  <a:cs typeface="Arial"/>
                  <a:sym typeface="Arial"/>
                </a:rPr>
                <a:t>S.M. Smith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631925" y="473494"/>
            <a:ext cx="1026915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rgbClr val="0E134E"/>
                </a:solidFill>
                <a:latin typeface="Arial"/>
                <a:ea typeface="Arial"/>
                <a:cs typeface="Arial"/>
                <a:sym typeface="Arial"/>
              </a:rPr>
              <a:t>what am I gonna learn?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75939" y="1396824"/>
            <a:ext cx="11040000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By the end of this workshop, you will: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Tx/>
              <a:buChar char="-"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basic </a:t>
            </a:r>
            <a:r>
              <a:rPr lang="en-US" sz="2800" b="0" i="0" u="none" strike="noStrike" cap="none" dirty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structure of </a:t>
            </a:r>
            <a:r>
              <a:rPr lang="en-US" sz="2800" dirty="0" smtClean="0">
                <a:solidFill>
                  <a:srgbClr val="DE3B99"/>
                </a:solidFill>
              </a:rPr>
              <a:t>FMNH XCT Lab data 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Tx/>
              <a:buChar char="-"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Feel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comfortable with navigating the </a:t>
            </a:r>
            <a:r>
              <a:rPr lang="en-US" sz="2800" dirty="0" smtClean="0">
                <a:solidFill>
                  <a:srgbClr val="DE3B99"/>
                </a:solidFill>
              </a:rPr>
              <a:t>3D </a:t>
            </a:r>
            <a:r>
              <a:rPr lang="en-US" sz="2800" b="0" i="0" u="none" strike="noStrike" cap="none" dirty="0" smtClean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Slicer </a:t>
            </a:r>
            <a:r>
              <a:rPr lang="en-US" sz="2800" b="0" i="0" u="none" strike="noStrike" cap="none" dirty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interface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be able to install, open, and update 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modules</a:t>
            </a:r>
            <a:endParaRPr lang="en-US"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Tx/>
              <a:buChar char="-"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able to </a:t>
            </a:r>
            <a:r>
              <a:rPr lang="en-US" sz="2800" b="0" i="0" u="none" strike="noStrike" cap="none" dirty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import and visualize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 data</a:t>
            </a:r>
            <a:endParaRPr lang="en-US"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Tx/>
              <a:buChar char="-"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basics of </a:t>
            </a:r>
            <a:r>
              <a:rPr lang="en-US" sz="2800" b="0" i="0" u="none" strike="noStrike" cap="none" dirty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segmentation and model </a:t>
            </a:r>
            <a:r>
              <a:rPr lang="en-US" sz="2800" b="0" i="0" u="none" strike="noStrike" cap="none" dirty="0" smtClean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generation</a:t>
            </a:r>
            <a:endParaRPr lang="en-US" sz="2800" dirty="0">
              <a:solidFill>
                <a:schemeClr val="dk1"/>
              </a:solidFill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Tx/>
              <a:buChar char="-"/>
            </a:pPr>
            <a:r>
              <a:rPr lang="en-US" sz="2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</a:t>
            </a:r>
            <a:r>
              <a:rPr lang="en-US" sz="2800" b="0" i="0" u="none" strike="noStrike" cap="none" dirty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expand your </a:t>
            </a:r>
            <a:r>
              <a:rPr lang="en-US" sz="2800" b="0" i="0" u="none" strike="noStrike" cap="none" dirty="0" smtClean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CT data skills 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moving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forward, and become familiar with the many Slicer community resources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631925" y="536249"/>
            <a:ext cx="1026915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rgbClr val="0E134E"/>
                </a:solidFill>
                <a:latin typeface="Arial"/>
                <a:ea typeface="Arial"/>
                <a:cs typeface="Arial"/>
                <a:sym typeface="Arial"/>
              </a:rPr>
              <a:t>the schedule (subject to change)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631925" y="1792275"/>
            <a:ext cx="10525200" cy="32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 smtClean="0">
                <a:solidFill>
                  <a:srgbClr val="44AE8A"/>
                </a:solidFill>
              </a:rPr>
              <a:t>September 23, </a:t>
            </a:r>
            <a:r>
              <a:rPr lang="en-US" sz="2400" b="1" dirty="0" smtClean="0">
                <a:solidFill>
                  <a:srgbClr val="44AE8A"/>
                </a:solidFill>
              </a:rPr>
              <a:t>8:30</a:t>
            </a:r>
            <a:r>
              <a:rPr lang="en-US" sz="2400" b="1" i="0" u="none" strike="noStrike" cap="none" dirty="0" smtClean="0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am-11:45am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dirty="0" smtClean="0">
                <a:solidFill>
                  <a:srgbClr val="DE3B99"/>
                </a:solidFill>
              </a:rPr>
              <a:t>8:30-9:15</a:t>
            </a:r>
            <a:r>
              <a:rPr lang="en-US" sz="2400" b="0" i="0" u="none" strike="noStrike" cap="none" dirty="0" smtClean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am</a:t>
            </a:r>
            <a:r>
              <a:rPr lang="en-US" sz="2400" b="0" i="0" u="none" strike="noStrike" cap="none" dirty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Welcome, setup, introduction to the course and 3D data types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2400"/>
            </a:pPr>
            <a:r>
              <a:rPr lang="en-US" sz="2400" dirty="0" smtClean="0">
                <a:solidFill>
                  <a:srgbClr val="DE3B99"/>
                </a:solidFill>
              </a:rPr>
              <a:t>9:15-10</a:t>
            </a:r>
            <a:r>
              <a:rPr lang="en-US" sz="2400" dirty="0" smtClean="0">
                <a:solidFill>
                  <a:srgbClr val="DE3B99"/>
                </a:solidFill>
              </a:rPr>
              <a:t>a</a:t>
            </a:r>
            <a:r>
              <a:rPr lang="en-US" sz="2400" b="0" i="0" u="none" strike="noStrike" cap="none" dirty="0" smtClean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 b="0" i="0" u="none" strike="noStrike" cap="none" dirty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Slicer basics</a:t>
            </a:r>
            <a:r>
              <a:rPr lang="en-US" sz="2400" dirty="0">
                <a:solidFill>
                  <a:schemeClr val="dk1"/>
                </a:solidFill>
              </a:rPr>
              <a:t>: </a:t>
            </a:r>
            <a:r>
              <a:rPr lang="en-US" sz="2400" dirty="0"/>
              <a:t>where are the important buttons? and how do I get my data in there</a:t>
            </a:r>
            <a:r>
              <a:rPr lang="en-US" sz="2400" dirty="0">
                <a:solidFill>
                  <a:schemeClr val="dk1"/>
                </a:solidFill>
              </a:rPr>
              <a:t>? </a:t>
            </a:r>
            <a:endParaRPr sz="2400" dirty="0">
              <a:solidFill>
                <a:schemeClr val="dk1"/>
              </a:solidFill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DE3B99"/>
                </a:solidFill>
              </a:rPr>
              <a:t>10am-11am</a:t>
            </a:r>
            <a:r>
              <a:rPr lang="en-US" sz="2400" dirty="0">
                <a:solidFill>
                  <a:srgbClr val="DE3B99"/>
                </a:solidFill>
              </a:rPr>
              <a:t>:</a:t>
            </a:r>
            <a:r>
              <a:rPr lang="en-US" sz="2400" dirty="0">
                <a:solidFill>
                  <a:schemeClr val="dk1"/>
                </a:solidFill>
              </a:rPr>
              <a:t> </a:t>
            </a:r>
            <a:r>
              <a:rPr lang="en-US" sz="2400" dirty="0"/>
              <a:t>Segmentation: </a:t>
            </a:r>
            <a:r>
              <a:rPr lang="en-US" sz="2400" dirty="0" smtClean="0"/>
              <a:t>intro and demonstration, discussion of tools</a:t>
            </a:r>
            <a:endParaRPr lang="en-US" sz="24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smtClean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11-11:30am: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Production of meshes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 smtClean="0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11:30-11:45am: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Wrap up and discussion of additional resources</a:t>
            </a:r>
          </a:p>
          <a:p>
            <a:pPr lvl="0">
              <a:buSzPts val="2400"/>
            </a:pPr>
            <a:r>
              <a:rPr lang="en-US" sz="2400" dirty="0" smtClean="0">
                <a:solidFill>
                  <a:srgbClr val="DE3B99"/>
                </a:solidFill>
              </a:rPr>
              <a:t>11:45am: </a:t>
            </a:r>
            <a:r>
              <a:rPr lang="en-US" sz="2400" dirty="0" smtClean="0">
                <a:solidFill>
                  <a:schemeClr val="tx1"/>
                </a:solidFill>
              </a:rPr>
              <a:t>End - break for lunch!</a:t>
            </a:r>
            <a:endParaRPr lang="en-US" sz="2400"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/>
        </p:nvSpPr>
        <p:spPr>
          <a:xfrm>
            <a:off x="882936" y="894837"/>
            <a:ext cx="10553002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 dirty="0" smtClean="0">
                <a:solidFill>
                  <a:srgbClr val="0E134E"/>
                </a:solidFill>
                <a:latin typeface="Arial"/>
                <a:ea typeface="Arial"/>
                <a:cs typeface="Arial"/>
                <a:sym typeface="Arial"/>
              </a:rPr>
              <a:t>FMNH XCT lab data: an overview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900865" y="2048647"/>
            <a:ext cx="995669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volume data: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AE8A"/>
              </a:buClr>
              <a:buSzPts val="4000"/>
              <a:buFont typeface="Arial"/>
              <a:buChar char="-"/>
            </a:pPr>
            <a:r>
              <a:rPr lang="en-US" sz="4000" b="0" i="0" u="none" strike="noStrike" cap="none" dirty="0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CT and µCT image </a:t>
            </a:r>
            <a:r>
              <a:rPr lang="en-US" sz="4000" b="0" i="0" u="none" strike="noStrike" cap="none" dirty="0" smtClean="0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stacks</a:t>
            </a:r>
          </a:p>
        </p:txBody>
      </p:sp>
      <p:grpSp>
        <p:nvGrpSpPr>
          <p:cNvPr id="131" name="Google Shape;131;p7"/>
          <p:cNvGrpSpPr/>
          <p:nvPr/>
        </p:nvGrpSpPr>
        <p:grpSpPr>
          <a:xfrm rot="5400000">
            <a:off x="-3218791" y="2724820"/>
            <a:ext cx="4646735" cy="1196661"/>
            <a:chOff x="537387" y="909286"/>
            <a:chExt cx="11117226" cy="3234089"/>
          </a:xfrm>
        </p:grpSpPr>
        <p:pic>
          <p:nvPicPr>
            <p:cNvPr id="132" name="Google Shape;132;p7"/>
            <p:cNvPicPr preferRelativeResize="0"/>
            <p:nvPr/>
          </p:nvPicPr>
          <p:blipFill rotWithShape="1">
            <a:blip r:embed="rId3">
              <a:alphaModFix/>
            </a:blip>
            <a:srcRect b="50000"/>
            <a:stretch/>
          </p:blipFill>
          <p:spPr>
            <a:xfrm>
              <a:off x="537387" y="909286"/>
              <a:ext cx="11117226" cy="25197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0921" y="3095584"/>
              <a:ext cx="10890158" cy="104779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403c0a7681_0_1"/>
          <p:cNvPicPr preferRelativeResize="0"/>
          <p:nvPr/>
        </p:nvPicPr>
        <p:blipFill rotWithShape="1">
          <a:blip r:embed="rId3">
            <a:alphaModFix/>
          </a:blip>
          <a:srcRect l="6367" t="3110"/>
          <a:stretch/>
        </p:blipFill>
        <p:spPr>
          <a:xfrm>
            <a:off x="767625" y="137325"/>
            <a:ext cx="11343400" cy="66444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403c0a7681_0_1"/>
          <p:cNvSpPr/>
          <p:nvPr/>
        </p:nvSpPr>
        <p:spPr>
          <a:xfrm>
            <a:off x="0" y="0"/>
            <a:ext cx="433800" cy="433800"/>
          </a:xfrm>
          <a:prstGeom prst="rect">
            <a:avLst/>
          </a:prstGeom>
          <a:solidFill>
            <a:srgbClr val="44AE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9" title="20250402_154406.jpg"/>
          <p:cNvPicPr preferRelativeResize="0"/>
          <p:nvPr/>
        </p:nvPicPr>
        <p:blipFill rotWithShape="1">
          <a:blip r:embed="rId3">
            <a:alphaModFix/>
          </a:blip>
          <a:srcRect l="1552" r="3200"/>
          <a:stretch/>
        </p:blipFill>
        <p:spPr>
          <a:xfrm>
            <a:off x="6032525" y="479000"/>
            <a:ext cx="4621225" cy="2731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/>
          <p:nvPr/>
        </p:nvSpPr>
        <p:spPr>
          <a:xfrm>
            <a:off x="6782015" y="6027989"/>
            <a:ext cx="572992" cy="421322"/>
          </a:xfrm>
          <a:prstGeom prst="trapezoid">
            <a:avLst>
              <a:gd name="adj" fmla="val 43053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612686" y="6086301"/>
            <a:ext cx="909633" cy="232217"/>
          </a:xfrm>
          <a:prstGeom prst="ellipse">
            <a:avLst/>
          </a:prstGeom>
          <a:noFill/>
          <a:ln w="28575" cap="flat" cmpd="sng">
            <a:solidFill>
              <a:srgbClr val="4A244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479883" y="3468268"/>
            <a:ext cx="1175241" cy="2725389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 w="381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4500000">
            <a:off x="5870180" y="4275575"/>
            <a:ext cx="2423239" cy="108189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0" y="0"/>
            <a:ext cx="433754" cy="433754"/>
          </a:xfrm>
          <a:prstGeom prst="rect">
            <a:avLst/>
          </a:prstGeom>
          <a:solidFill>
            <a:srgbClr val="44AE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9"/>
          <p:cNvPicPr preferRelativeResize="0"/>
          <p:nvPr/>
        </p:nvPicPr>
        <p:blipFill rotWithShape="1">
          <a:blip r:embed="rId5">
            <a:alphaModFix/>
          </a:blip>
          <a:srcRect t="3560" r="2133" b="7515"/>
          <a:stretch/>
        </p:blipFill>
        <p:spPr>
          <a:xfrm>
            <a:off x="1106515" y="479006"/>
            <a:ext cx="4474259" cy="27314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9"/>
          <p:cNvCxnSpPr/>
          <p:nvPr/>
        </p:nvCxnSpPr>
        <p:spPr>
          <a:xfrm flipH="1">
            <a:off x="1572459" y="1423546"/>
            <a:ext cx="1879132" cy="2213174"/>
          </a:xfrm>
          <a:prstGeom prst="straightConnector1">
            <a:avLst/>
          </a:prstGeom>
          <a:noFill/>
          <a:ln w="28575" cap="flat" cmpd="sng">
            <a:solidFill>
              <a:srgbClr val="E6EA68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62" name="Google Shape;162;p9"/>
          <p:cNvCxnSpPr/>
          <p:nvPr/>
        </p:nvCxnSpPr>
        <p:spPr>
          <a:xfrm flipH="1">
            <a:off x="4760098" y="1689221"/>
            <a:ext cx="195402" cy="3091901"/>
          </a:xfrm>
          <a:prstGeom prst="straightConnector1">
            <a:avLst/>
          </a:prstGeom>
          <a:noFill/>
          <a:ln w="28575" cap="flat" cmpd="sng">
            <a:solidFill>
              <a:srgbClr val="E6EA68"/>
            </a:solidFill>
            <a:prstDash val="dash"/>
            <a:miter lim="800000"/>
            <a:headEnd type="none" w="sm" len="sm"/>
            <a:tailEnd type="none" w="sm" len="sm"/>
          </a:ln>
        </p:spPr>
      </p:cxnSp>
      <p:grpSp>
        <p:nvGrpSpPr>
          <p:cNvPr id="163" name="Google Shape;163;p9"/>
          <p:cNvGrpSpPr/>
          <p:nvPr/>
        </p:nvGrpSpPr>
        <p:grpSpPr>
          <a:xfrm>
            <a:off x="1250036" y="3076097"/>
            <a:ext cx="3455595" cy="3483996"/>
            <a:chOff x="1884694" y="3633420"/>
            <a:chExt cx="2420530" cy="2440424"/>
          </a:xfrm>
        </p:grpSpPr>
        <p:pic>
          <p:nvPicPr>
            <p:cNvPr id="164" name="Google Shape;164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5400000">
              <a:off x="2726751" y="4566470"/>
              <a:ext cx="726996" cy="522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9"/>
            <p:cNvSpPr/>
            <p:nvPr/>
          </p:nvSpPr>
          <p:spPr>
            <a:xfrm>
              <a:off x="1884694" y="3633420"/>
              <a:ext cx="2401972" cy="2401972"/>
            </a:xfrm>
            <a:prstGeom prst="donut">
              <a:avLst>
                <a:gd name="adj" fmla="val 30600"/>
              </a:avLst>
            </a:prstGeom>
            <a:solidFill>
              <a:srgbClr val="3684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6" name="Google Shape;166;p9"/>
            <p:cNvGrpSpPr/>
            <p:nvPr/>
          </p:nvGrpSpPr>
          <p:grpSpPr>
            <a:xfrm rot="-2638693">
              <a:off x="2314074" y="3999615"/>
              <a:ext cx="1603057" cy="1765127"/>
              <a:chOff x="4980790" y="4571996"/>
              <a:chExt cx="1603057" cy="1765127"/>
            </a:xfrm>
          </p:grpSpPr>
          <p:grpSp>
            <p:nvGrpSpPr>
              <p:cNvPr id="167" name="Google Shape;167;p9"/>
              <p:cNvGrpSpPr/>
              <p:nvPr/>
            </p:nvGrpSpPr>
            <p:grpSpPr>
              <a:xfrm>
                <a:off x="4980790" y="4571998"/>
                <a:ext cx="806296" cy="1718944"/>
                <a:chOff x="4980790" y="4571998"/>
                <a:chExt cx="806296" cy="1718944"/>
              </a:xfrm>
            </p:grpSpPr>
            <p:cxnSp>
              <p:nvCxnSpPr>
                <p:cNvPr id="168" name="Google Shape;168;p9"/>
                <p:cNvCxnSpPr/>
                <p:nvPr/>
              </p:nvCxnSpPr>
              <p:spPr>
                <a:xfrm flipH="1">
                  <a:off x="4980790" y="4572000"/>
                  <a:ext cx="796066" cy="1333948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DE3B99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169" name="Google Shape;169;p9"/>
                <p:cNvCxnSpPr/>
                <p:nvPr/>
              </p:nvCxnSpPr>
              <p:spPr>
                <a:xfrm flipH="1">
                  <a:off x="5196320" y="4571998"/>
                  <a:ext cx="587762" cy="1545047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DE3B99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170" name="Google Shape;170;p9"/>
                <p:cNvCxnSpPr/>
                <p:nvPr/>
              </p:nvCxnSpPr>
              <p:spPr>
                <a:xfrm flipH="1">
                  <a:off x="5465334" y="4571998"/>
                  <a:ext cx="321752" cy="1718944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DE3B99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</p:grpSp>
          <p:grpSp>
            <p:nvGrpSpPr>
              <p:cNvPr id="171" name="Google Shape;171;p9"/>
              <p:cNvGrpSpPr/>
              <p:nvPr/>
            </p:nvGrpSpPr>
            <p:grpSpPr>
              <a:xfrm flipH="1">
                <a:off x="5777551" y="4571996"/>
                <a:ext cx="806296" cy="1718946"/>
                <a:chOff x="4980790" y="4571998"/>
                <a:chExt cx="806296" cy="1718946"/>
              </a:xfrm>
            </p:grpSpPr>
            <p:cxnSp>
              <p:nvCxnSpPr>
                <p:cNvPr id="172" name="Google Shape;172;p9"/>
                <p:cNvCxnSpPr/>
                <p:nvPr/>
              </p:nvCxnSpPr>
              <p:spPr>
                <a:xfrm flipH="1">
                  <a:off x="4980790" y="4572000"/>
                  <a:ext cx="796066" cy="1333948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DE3B99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173" name="Google Shape;173;p9"/>
                <p:cNvCxnSpPr/>
                <p:nvPr/>
              </p:nvCxnSpPr>
              <p:spPr>
                <a:xfrm flipH="1">
                  <a:off x="5180285" y="4571998"/>
                  <a:ext cx="603797" cy="1554518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DE3B99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174" name="Google Shape;174;p9"/>
                <p:cNvCxnSpPr/>
                <p:nvPr/>
              </p:nvCxnSpPr>
              <p:spPr>
                <a:xfrm flipH="1">
                  <a:off x="5448139" y="4571998"/>
                  <a:ext cx="338947" cy="1718946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DE3B99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</p:grpSp>
          <p:cxnSp>
            <p:nvCxnSpPr>
              <p:cNvPr id="175" name="Google Shape;175;p9"/>
              <p:cNvCxnSpPr/>
              <p:nvPr/>
            </p:nvCxnSpPr>
            <p:spPr>
              <a:xfrm>
                <a:off x="5781474" y="4571996"/>
                <a:ext cx="2516" cy="1765127"/>
              </a:xfrm>
              <a:prstGeom prst="straightConnector1">
                <a:avLst/>
              </a:prstGeom>
              <a:noFill/>
              <a:ln w="38100" cap="flat" cmpd="sng">
                <a:solidFill>
                  <a:srgbClr val="DE3B99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sp>
          <p:nvSpPr>
            <p:cNvPr id="176" name="Google Shape;176;p9"/>
            <p:cNvSpPr/>
            <p:nvPr/>
          </p:nvSpPr>
          <p:spPr>
            <a:xfrm>
              <a:off x="2274661" y="4005874"/>
              <a:ext cx="352474" cy="352474"/>
            </a:xfrm>
            <a:prstGeom prst="ellipse">
              <a:avLst/>
            </a:prstGeom>
            <a:solidFill>
              <a:srgbClr val="E6EA6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9"/>
          <p:cNvSpPr/>
          <p:nvPr/>
        </p:nvSpPr>
        <p:spPr>
          <a:xfrm>
            <a:off x="9187802" y="4321783"/>
            <a:ext cx="2147493" cy="1052946"/>
          </a:xfrm>
          <a:prstGeom prst="trapezoid">
            <a:avLst>
              <a:gd name="adj" fmla="val 67240"/>
            </a:avLst>
          </a:prstGeom>
          <a:solidFill>
            <a:srgbClr val="3684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9"/>
          <p:cNvGrpSpPr/>
          <p:nvPr/>
        </p:nvGrpSpPr>
        <p:grpSpPr>
          <a:xfrm rot="7993567">
            <a:off x="6082495" y="2589702"/>
            <a:ext cx="4290104" cy="4598619"/>
            <a:chOff x="1840686" y="3582637"/>
            <a:chExt cx="3020010" cy="3034474"/>
          </a:xfrm>
        </p:grpSpPr>
        <p:grpSp>
          <p:nvGrpSpPr>
            <p:cNvPr id="179" name="Google Shape;179;p9"/>
            <p:cNvGrpSpPr/>
            <p:nvPr/>
          </p:nvGrpSpPr>
          <p:grpSpPr>
            <a:xfrm rot="-2638693">
              <a:off x="2423615" y="3886027"/>
              <a:ext cx="1854153" cy="2427695"/>
              <a:chOff x="4873249" y="4560609"/>
              <a:chExt cx="1854153" cy="2427695"/>
            </a:xfrm>
          </p:grpSpPr>
          <p:grpSp>
            <p:nvGrpSpPr>
              <p:cNvPr id="180" name="Google Shape;180;p9"/>
              <p:cNvGrpSpPr/>
              <p:nvPr/>
            </p:nvGrpSpPr>
            <p:grpSpPr>
              <a:xfrm>
                <a:off x="4873249" y="4560609"/>
                <a:ext cx="913371" cy="2407298"/>
                <a:chOff x="4873249" y="4560609"/>
                <a:chExt cx="913371" cy="2407298"/>
              </a:xfrm>
            </p:grpSpPr>
            <p:cxnSp>
              <p:nvCxnSpPr>
                <p:cNvPr id="181" name="Google Shape;181;p9"/>
                <p:cNvCxnSpPr/>
                <p:nvPr/>
              </p:nvCxnSpPr>
              <p:spPr>
                <a:xfrm rot="5445126">
                  <a:off x="4126790" y="5328374"/>
                  <a:ext cx="2396061" cy="871767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DE3B99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182" name="Google Shape;182;p9"/>
                <p:cNvCxnSpPr/>
                <p:nvPr/>
              </p:nvCxnSpPr>
              <p:spPr>
                <a:xfrm rot="5445126">
                  <a:off x="4290593" y="5486981"/>
                  <a:ext cx="2396038" cy="558608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DE3B99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183" name="Google Shape;183;p9"/>
                <p:cNvCxnSpPr/>
                <p:nvPr/>
              </p:nvCxnSpPr>
              <p:spPr>
                <a:xfrm rot="5445126">
                  <a:off x="4443213" y="5637784"/>
                  <a:ext cx="2395279" cy="260116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DE3B99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</p:grpSp>
          <p:grpSp>
            <p:nvGrpSpPr>
              <p:cNvPr id="184" name="Google Shape;184;p9"/>
              <p:cNvGrpSpPr/>
              <p:nvPr/>
            </p:nvGrpSpPr>
            <p:grpSpPr>
              <a:xfrm flipH="1">
                <a:off x="5745640" y="4571937"/>
                <a:ext cx="981762" cy="2416367"/>
                <a:chOff x="4837235" y="4571939"/>
                <a:chExt cx="981762" cy="2416367"/>
              </a:xfrm>
            </p:grpSpPr>
            <p:cxnSp>
              <p:nvCxnSpPr>
                <p:cNvPr id="185" name="Google Shape;185;p9"/>
                <p:cNvCxnSpPr/>
                <p:nvPr/>
              </p:nvCxnSpPr>
              <p:spPr>
                <a:xfrm rot="5354874">
                  <a:off x="4120943" y="5310037"/>
                  <a:ext cx="2404233" cy="940171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DE3B99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186" name="Google Shape;186;p9"/>
                <p:cNvCxnSpPr/>
                <p:nvPr/>
              </p:nvCxnSpPr>
              <p:spPr>
                <a:xfrm rot="5354874">
                  <a:off x="4288487" y="5459750"/>
                  <a:ext cx="2395594" cy="628036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DE3B99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  <p:cxnSp>
              <p:nvCxnSpPr>
                <p:cNvPr id="187" name="Google Shape;187;p9"/>
                <p:cNvCxnSpPr/>
                <p:nvPr/>
              </p:nvCxnSpPr>
              <p:spPr>
                <a:xfrm rot="5354874">
                  <a:off x="4436659" y="5602795"/>
                  <a:ext cx="2395344" cy="33792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DE3B99"/>
                  </a:solidFill>
                  <a:prstDash val="solid"/>
                  <a:miter lim="800000"/>
                  <a:headEnd type="none" w="sm" len="sm"/>
                  <a:tailEnd type="triangle" w="med" len="med"/>
                </a:ln>
              </p:spPr>
            </p:cxnSp>
          </p:grpSp>
          <p:cxnSp>
            <p:nvCxnSpPr>
              <p:cNvPr id="188" name="Google Shape;188;p9"/>
              <p:cNvCxnSpPr/>
              <p:nvPr/>
            </p:nvCxnSpPr>
            <p:spPr>
              <a:xfrm rot="-5354874" flipH="1">
                <a:off x="4579394" y="5757927"/>
                <a:ext cx="2404158" cy="32503"/>
              </a:xfrm>
              <a:prstGeom prst="straightConnector1">
                <a:avLst/>
              </a:prstGeom>
              <a:noFill/>
              <a:ln w="38100" cap="flat" cmpd="sng">
                <a:solidFill>
                  <a:srgbClr val="DE3B99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sp>
          <p:nvSpPr>
            <p:cNvPr id="189" name="Google Shape;189;p9"/>
            <p:cNvSpPr/>
            <p:nvPr/>
          </p:nvSpPr>
          <p:spPr>
            <a:xfrm>
              <a:off x="2244876" y="4032130"/>
              <a:ext cx="352474" cy="352474"/>
            </a:xfrm>
            <a:prstGeom prst="ellipse">
              <a:avLst/>
            </a:prstGeom>
            <a:solidFill>
              <a:srgbClr val="E6EA6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9"/>
          <p:cNvSpPr/>
          <p:nvPr/>
        </p:nvSpPr>
        <p:spPr>
          <a:xfrm>
            <a:off x="6032522" y="3480700"/>
            <a:ext cx="234187" cy="2882246"/>
          </a:xfrm>
          <a:prstGeom prst="rect">
            <a:avLst/>
          </a:prstGeom>
          <a:solidFill>
            <a:srgbClr val="81D7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550422" y="4321783"/>
            <a:ext cx="1016685" cy="1052946"/>
          </a:xfrm>
          <a:prstGeom prst="rect">
            <a:avLst/>
          </a:prstGeom>
          <a:solidFill>
            <a:srgbClr val="3684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9"/>
          <p:cNvCxnSpPr/>
          <p:nvPr/>
        </p:nvCxnSpPr>
        <p:spPr>
          <a:xfrm flipH="1">
            <a:off x="6012175" y="1640950"/>
            <a:ext cx="1725300" cy="1673700"/>
          </a:xfrm>
          <a:prstGeom prst="straightConnector1">
            <a:avLst/>
          </a:prstGeom>
          <a:noFill/>
          <a:ln w="28575" cap="flat" cmpd="sng">
            <a:solidFill>
              <a:srgbClr val="E6EA68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93" name="Google Shape;193;p9"/>
          <p:cNvCxnSpPr/>
          <p:nvPr/>
        </p:nvCxnSpPr>
        <p:spPr>
          <a:xfrm>
            <a:off x="8979100" y="1592450"/>
            <a:ext cx="2556000" cy="2539200"/>
          </a:xfrm>
          <a:prstGeom prst="straightConnector1">
            <a:avLst/>
          </a:prstGeom>
          <a:noFill/>
          <a:ln w="28575" cap="flat" cmpd="sng">
            <a:solidFill>
              <a:srgbClr val="E6EA68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94" name="Google Shape;194;p9"/>
          <p:cNvSpPr txBox="1"/>
          <p:nvPr/>
        </p:nvSpPr>
        <p:spPr>
          <a:xfrm>
            <a:off x="157689" y="3312177"/>
            <a:ext cx="14949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X-ray source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4229892" y="6123367"/>
            <a:ext cx="16789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X-ray detector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9002817" y="3321512"/>
            <a:ext cx="14949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X-ray source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9"/>
          <p:cNvCxnSpPr/>
          <p:nvPr/>
        </p:nvCxnSpPr>
        <p:spPr>
          <a:xfrm>
            <a:off x="9750315" y="3674146"/>
            <a:ext cx="339934" cy="105673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8" name="Google Shape;198;p9"/>
          <p:cNvCxnSpPr/>
          <p:nvPr/>
        </p:nvCxnSpPr>
        <p:spPr>
          <a:xfrm rot="10800000" flipH="1">
            <a:off x="5450783" y="5082135"/>
            <a:ext cx="645217" cy="10507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9" name="Google Shape;199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78470" y="5930820"/>
            <a:ext cx="3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97270" y="5721300"/>
            <a:ext cx="4572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21270" y="5883300"/>
            <a:ext cx="3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68630" y="5921100"/>
            <a:ext cx="3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 rot="-164299">
            <a:off x="6949065" y="6237158"/>
            <a:ext cx="265469" cy="14029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 rot="5400000">
            <a:off x="6931011" y="6278180"/>
            <a:ext cx="86228" cy="74099"/>
          </a:xfrm>
          <a:prstGeom prst="triangle">
            <a:avLst>
              <a:gd name="adj" fmla="val 50000"/>
            </a:avLst>
          </a:prstGeom>
          <a:solidFill>
            <a:srgbClr val="4A24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 rot="-10360481">
            <a:off x="1678653" y="3591771"/>
            <a:ext cx="2464193" cy="2464193"/>
          </a:xfrm>
          <a:prstGeom prst="arc">
            <a:avLst>
              <a:gd name="adj1" fmla="val 17834421"/>
              <a:gd name="adj2" fmla="val 0"/>
            </a:avLst>
          </a:prstGeom>
          <a:noFill/>
          <a:ln w="38100" cap="flat" cmpd="sng">
            <a:solidFill>
              <a:srgbClr val="4A244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 rot="508788">
            <a:off x="1600099" y="4582440"/>
            <a:ext cx="185962" cy="160312"/>
          </a:xfrm>
          <a:prstGeom prst="triangle">
            <a:avLst>
              <a:gd name="adj" fmla="val 50000"/>
            </a:avLst>
          </a:prstGeom>
          <a:solidFill>
            <a:srgbClr val="4A24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 txBox="1"/>
          <p:nvPr/>
        </p:nvSpPr>
        <p:spPr>
          <a:xfrm rot="1132080">
            <a:off x="8136023" y="4004432"/>
            <a:ext cx="64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X-rays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 rot="840290">
            <a:off x="3555158" y="4147000"/>
            <a:ext cx="64798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X-rays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 rot="-2577924">
            <a:off x="1678952" y="3591770"/>
            <a:ext cx="2464193" cy="2464193"/>
          </a:xfrm>
          <a:prstGeom prst="arc">
            <a:avLst>
              <a:gd name="adj1" fmla="val 17834421"/>
              <a:gd name="adj2" fmla="val 0"/>
            </a:avLst>
          </a:prstGeom>
          <a:noFill/>
          <a:ln w="38100" cap="flat" cmpd="sng">
            <a:solidFill>
              <a:srgbClr val="4A244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 rot="1083581">
            <a:off x="3714240" y="3867320"/>
            <a:ext cx="185962" cy="160312"/>
          </a:xfrm>
          <a:prstGeom prst="triangle">
            <a:avLst>
              <a:gd name="adj" fmla="val 50000"/>
            </a:avLst>
          </a:prstGeom>
          <a:solidFill>
            <a:srgbClr val="4A24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9"/>
          <p:cNvPicPr preferRelativeResize="0"/>
          <p:nvPr/>
        </p:nvPicPr>
        <p:blipFill rotWithShape="1">
          <a:blip r:embed="rId11">
            <a:alphaModFix/>
          </a:blip>
          <a:srcRect l="8031" t="4181" r="13347" b="26354"/>
          <a:stretch/>
        </p:blipFill>
        <p:spPr>
          <a:xfrm>
            <a:off x="9888172" y="4664237"/>
            <a:ext cx="441071" cy="411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9"/>
          <p:cNvPicPr preferRelativeResize="0"/>
          <p:nvPr/>
        </p:nvPicPr>
        <p:blipFill rotWithShape="1">
          <a:blip r:embed="rId11">
            <a:alphaModFix/>
          </a:blip>
          <a:srcRect l="8031" t="4181" r="13347" b="26354"/>
          <a:stretch/>
        </p:blipFill>
        <p:spPr>
          <a:xfrm>
            <a:off x="1832781" y="3680235"/>
            <a:ext cx="441071" cy="4110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9"/>
          <p:cNvCxnSpPr/>
          <p:nvPr/>
        </p:nvCxnSpPr>
        <p:spPr>
          <a:xfrm>
            <a:off x="1106515" y="3670984"/>
            <a:ext cx="645305" cy="13344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4" name="Google Shape;214;p9"/>
          <p:cNvSpPr/>
          <p:nvPr/>
        </p:nvSpPr>
        <p:spPr>
          <a:xfrm rot="7082199">
            <a:off x="1401948" y="3261595"/>
            <a:ext cx="3109849" cy="3109849"/>
          </a:xfrm>
          <a:prstGeom prst="blockArc">
            <a:avLst>
              <a:gd name="adj1" fmla="val 13362997"/>
              <a:gd name="adj2" fmla="val 21095262"/>
              <a:gd name="adj3" fmla="val 4603"/>
            </a:avLst>
          </a:prstGeom>
          <a:solidFill>
            <a:srgbClr val="81D7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9"/>
          <p:cNvCxnSpPr/>
          <p:nvPr/>
        </p:nvCxnSpPr>
        <p:spPr>
          <a:xfrm rot="10800000">
            <a:off x="4308707" y="5504039"/>
            <a:ext cx="419094" cy="61716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0"/>
          <p:cNvPicPr preferRelativeResize="0"/>
          <p:nvPr/>
        </p:nvPicPr>
        <p:blipFill rotWithShape="1">
          <a:blip r:embed="rId3">
            <a:alphaModFix/>
          </a:blip>
          <a:srcRect l="7415"/>
          <a:stretch/>
        </p:blipFill>
        <p:spPr>
          <a:xfrm>
            <a:off x="4311049" y="492800"/>
            <a:ext cx="3682425" cy="577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/>
          <p:nvPr/>
        </p:nvSpPr>
        <p:spPr>
          <a:xfrm>
            <a:off x="0" y="0"/>
            <a:ext cx="433754" cy="433754"/>
          </a:xfrm>
          <a:prstGeom prst="rect">
            <a:avLst/>
          </a:prstGeom>
          <a:solidFill>
            <a:srgbClr val="44AE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0"/>
          <p:cNvPicPr preferRelativeResize="0"/>
          <p:nvPr/>
        </p:nvPicPr>
        <p:blipFill rotWithShape="1">
          <a:blip r:embed="rId4">
            <a:alphaModFix/>
          </a:blip>
          <a:srcRect l="13760" r="4062"/>
          <a:stretch/>
        </p:blipFill>
        <p:spPr>
          <a:xfrm rot="5400000">
            <a:off x="-86436" y="1756029"/>
            <a:ext cx="4805917" cy="328969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1082046" y="6009671"/>
            <a:ext cx="2331505" cy="296259"/>
          </a:xfrm>
          <a:prstGeom prst="ellipse">
            <a:avLst/>
          </a:prstGeom>
          <a:noFill/>
          <a:ln w="76200" cap="flat" cmpd="sng">
            <a:solidFill>
              <a:srgbClr val="4A244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2104658" y="6118794"/>
            <a:ext cx="484011" cy="2962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 rot="5607242">
            <a:off x="1965536" y="6216733"/>
            <a:ext cx="207598" cy="178396"/>
          </a:xfrm>
          <a:prstGeom prst="triangle">
            <a:avLst>
              <a:gd name="adj" fmla="val 50000"/>
            </a:avLst>
          </a:prstGeom>
          <a:solidFill>
            <a:srgbClr val="4A24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0"/>
          <p:cNvCxnSpPr/>
          <p:nvPr/>
        </p:nvCxnSpPr>
        <p:spPr>
          <a:xfrm>
            <a:off x="452453" y="1267412"/>
            <a:ext cx="4489500" cy="0"/>
          </a:xfrm>
          <a:prstGeom prst="straightConnector1">
            <a:avLst/>
          </a:prstGeom>
          <a:noFill/>
          <a:ln w="38100" cap="flat" cmpd="sng">
            <a:solidFill>
              <a:srgbClr val="DE3B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8" name="Google Shape;228;p10"/>
          <p:cNvCxnSpPr/>
          <p:nvPr/>
        </p:nvCxnSpPr>
        <p:spPr>
          <a:xfrm>
            <a:off x="452453" y="1834482"/>
            <a:ext cx="3803768" cy="0"/>
          </a:xfrm>
          <a:prstGeom prst="straightConnector1">
            <a:avLst/>
          </a:prstGeom>
          <a:noFill/>
          <a:ln w="38100" cap="flat" cmpd="sng">
            <a:solidFill>
              <a:srgbClr val="DE3B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9" name="Google Shape;229;p10"/>
          <p:cNvCxnSpPr/>
          <p:nvPr/>
        </p:nvCxnSpPr>
        <p:spPr>
          <a:xfrm>
            <a:off x="426949" y="3390400"/>
            <a:ext cx="4527300" cy="0"/>
          </a:xfrm>
          <a:prstGeom prst="straightConnector1">
            <a:avLst/>
          </a:prstGeom>
          <a:noFill/>
          <a:ln w="38100" cap="flat" cmpd="sng">
            <a:solidFill>
              <a:srgbClr val="DE3B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0" name="Google Shape;230;p10"/>
          <p:cNvCxnSpPr/>
          <p:nvPr/>
        </p:nvCxnSpPr>
        <p:spPr>
          <a:xfrm>
            <a:off x="426825" y="4357943"/>
            <a:ext cx="4527300" cy="0"/>
          </a:xfrm>
          <a:prstGeom prst="straightConnector1">
            <a:avLst/>
          </a:prstGeom>
          <a:noFill/>
          <a:ln w="38100" cap="flat" cmpd="sng">
            <a:solidFill>
              <a:srgbClr val="DE3B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1" name="Google Shape;231;p10"/>
          <p:cNvCxnSpPr/>
          <p:nvPr/>
        </p:nvCxnSpPr>
        <p:spPr>
          <a:xfrm>
            <a:off x="426825" y="5399934"/>
            <a:ext cx="4512000" cy="0"/>
          </a:xfrm>
          <a:prstGeom prst="straightConnector1">
            <a:avLst/>
          </a:prstGeom>
          <a:noFill/>
          <a:ln w="38100" cap="flat" cmpd="sng">
            <a:solidFill>
              <a:srgbClr val="DE3B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2" name="Google Shape;232;p10"/>
          <p:cNvCxnSpPr/>
          <p:nvPr/>
        </p:nvCxnSpPr>
        <p:spPr>
          <a:xfrm>
            <a:off x="4256221" y="1842828"/>
            <a:ext cx="683400" cy="223200"/>
          </a:xfrm>
          <a:prstGeom prst="straightConnector1">
            <a:avLst/>
          </a:prstGeom>
          <a:noFill/>
          <a:ln w="38100" cap="flat" cmpd="sng">
            <a:solidFill>
              <a:srgbClr val="DE3B9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33" name="Google Shape;23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8167729" y="1813275"/>
            <a:ext cx="3757346" cy="313744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/>
          <p:nvPr/>
        </p:nvSpPr>
        <p:spPr>
          <a:xfrm rot="1590534">
            <a:off x="7167881" y="2738857"/>
            <a:ext cx="1232029" cy="3167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1D7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357442" y="6491962"/>
            <a:ext cx="57274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images: smsmith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g347d5a6b19c_0_16" title="shrew stack vec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101" y="657225"/>
            <a:ext cx="10909776" cy="571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47d5a6b19c_0_16"/>
          <p:cNvSpPr/>
          <p:nvPr/>
        </p:nvSpPr>
        <p:spPr>
          <a:xfrm>
            <a:off x="0" y="0"/>
            <a:ext cx="433800" cy="433800"/>
          </a:xfrm>
          <a:prstGeom prst="rect">
            <a:avLst/>
          </a:prstGeom>
          <a:solidFill>
            <a:srgbClr val="44AE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47d5a6b19c_0_16"/>
          <p:cNvSpPr/>
          <p:nvPr/>
        </p:nvSpPr>
        <p:spPr>
          <a:xfrm>
            <a:off x="6357442" y="6491962"/>
            <a:ext cx="572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image: smsmith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47d5a6b19c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275" y="550125"/>
            <a:ext cx="10077450" cy="61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47d5a6b19c_0_4"/>
          <p:cNvSpPr/>
          <p:nvPr/>
        </p:nvSpPr>
        <p:spPr>
          <a:xfrm>
            <a:off x="0" y="0"/>
            <a:ext cx="433800" cy="433800"/>
          </a:xfrm>
          <a:prstGeom prst="rect">
            <a:avLst/>
          </a:prstGeom>
          <a:solidFill>
            <a:srgbClr val="44AE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47d5a6b19c_0_4"/>
          <p:cNvSpPr/>
          <p:nvPr/>
        </p:nvSpPr>
        <p:spPr>
          <a:xfrm>
            <a:off x="6357442" y="6491962"/>
            <a:ext cx="572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images: smsmith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/>
          <p:nvPr/>
        </p:nvSpPr>
        <p:spPr>
          <a:xfrm>
            <a:off x="0" y="0"/>
            <a:ext cx="433754" cy="433754"/>
          </a:xfrm>
          <a:prstGeom prst="rect">
            <a:avLst/>
          </a:prstGeom>
          <a:solidFill>
            <a:srgbClr val="44AE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6719" y="433754"/>
            <a:ext cx="3528646" cy="599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5129981" y="411368"/>
            <a:ext cx="2946251" cy="2983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5188018" y="3409090"/>
            <a:ext cx="2830178" cy="298357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1"/>
          <p:cNvSpPr/>
          <p:nvPr/>
        </p:nvSpPr>
        <p:spPr>
          <a:xfrm rot="10800000" flipH="1">
            <a:off x="4419418" y="1491370"/>
            <a:ext cx="975359" cy="1119147"/>
          </a:xfrm>
          <a:prstGeom prst="bentArrow">
            <a:avLst>
              <a:gd name="adj1" fmla="val 25000"/>
              <a:gd name="adj2" fmla="val 25000"/>
              <a:gd name="adj3" fmla="val 36030"/>
              <a:gd name="adj4" fmla="val 43750"/>
            </a:avLst>
          </a:prstGeom>
          <a:solidFill>
            <a:srgbClr val="81D7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11"/>
          <p:cNvCxnSpPr/>
          <p:nvPr/>
        </p:nvCxnSpPr>
        <p:spPr>
          <a:xfrm>
            <a:off x="1152255" y="1491370"/>
            <a:ext cx="3803768" cy="0"/>
          </a:xfrm>
          <a:prstGeom prst="straightConnector1">
            <a:avLst/>
          </a:prstGeom>
          <a:noFill/>
          <a:ln w="38100" cap="flat" cmpd="sng">
            <a:solidFill>
              <a:srgbClr val="DE3B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3" name="Google Shape;263;p11"/>
          <p:cNvSpPr/>
          <p:nvPr/>
        </p:nvSpPr>
        <p:spPr>
          <a:xfrm rot="10800000" flipH="1">
            <a:off x="4399047" y="4619794"/>
            <a:ext cx="975359" cy="1119147"/>
          </a:xfrm>
          <a:prstGeom prst="bentArrow">
            <a:avLst>
              <a:gd name="adj1" fmla="val 25000"/>
              <a:gd name="adj2" fmla="val 25000"/>
              <a:gd name="adj3" fmla="val 34927"/>
              <a:gd name="adj4" fmla="val 43750"/>
            </a:avLst>
          </a:prstGeom>
          <a:solidFill>
            <a:srgbClr val="81D7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11"/>
          <p:cNvCxnSpPr/>
          <p:nvPr/>
        </p:nvCxnSpPr>
        <p:spPr>
          <a:xfrm>
            <a:off x="1152255" y="4619794"/>
            <a:ext cx="3803768" cy="0"/>
          </a:xfrm>
          <a:prstGeom prst="straightConnector1">
            <a:avLst/>
          </a:prstGeom>
          <a:noFill/>
          <a:ln w="38100" cap="flat" cmpd="sng">
            <a:solidFill>
              <a:srgbClr val="DE3B99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65" name="Google Shape;265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8503334" y="433754"/>
            <a:ext cx="2370147" cy="59648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11"/>
          <p:cNvGrpSpPr/>
          <p:nvPr/>
        </p:nvGrpSpPr>
        <p:grpSpPr>
          <a:xfrm rot="5400000">
            <a:off x="-3218791" y="2724820"/>
            <a:ext cx="4646735" cy="1196661"/>
            <a:chOff x="537387" y="909286"/>
            <a:chExt cx="11117226" cy="3234089"/>
          </a:xfrm>
        </p:grpSpPr>
        <p:pic>
          <p:nvPicPr>
            <p:cNvPr id="267" name="Google Shape;267;p11"/>
            <p:cNvPicPr preferRelativeResize="0"/>
            <p:nvPr/>
          </p:nvPicPr>
          <p:blipFill rotWithShape="1">
            <a:blip r:embed="rId7">
              <a:alphaModFix/>
            </a:blip>
            <a:srcRect b="50000"/>
            <a:stretch/>
          </p:blipFill>
          <p:spPr>
            <a:xfrm>
              <a:off x="537387" y="909286"/>
              <a:ext cx="11117226" cy="25197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1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50921" y="3095584"/>
              <a:ext cx="10890158" cy="10477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9" name="Google Shape;269;p11"/>
          <p:cNvSpPr/>
          <p:nvPr/>
        </p:nvSpPr>
        <p:spPr>
          <a:xfrm>
            <a:off x="7631171" y="3214226"/>
            <a:ext cx="1081774" cy="404446"/>
          </a:xfrm>
          <a:prstGeom prst="rightArrow">
            <a:avLst>
              <a:gd name="adj1" fmla="val 50000"/>
              <a:gd name="adj2" fmla="val 93137"/>
            </a:avLst>
          </a:prstGeom>
          <a:solidFill>
            <a:srgbClr val="44AE8A"/>
          </a:solidFill>
          <a:ln w="57150" cap="flat" cmpd="sng">
            <a:solidFill>
              <a:srgbClr val="44AE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1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250206" y="5480459"/>
            <a:ext cx="2136625" cy="144063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/>
          <p:nvPr/>
        </p:nvSpPr>
        <p:spPr>
          <a:xfrm>
            <a:off x="6357442" y="6491962"/>
            <a:ext cx="57274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images: smsmith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"/>
          <p:cNvSpPr/>
          <p:nvPr/>
        </p:nvSpPr>
        <p:spPr>
          <a:xfrm>
            <a:off x="5378640" y="993380"/>
            <a:ext cx="2600781" cy="4884768"/>
          </a:xfrm>
          <a:prstGeom prst="rect">
            <a:avLst/>
          </a:prstGeom>
          <a:solidFill>
            <a:srgbClr val="FF947E">
              <a:alpha val="9372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2595112" y="993380"/>
            <a:ext cx="2600781" cy="4884768"/>
          </a:xfrm>
          <a:prstGeom prst="rect">
            <a:avLst/>
          </a:prstGeom>
          <a:solidFill>
            <a:srgbClr val="81D7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0" y="0"/>
            <a:ext cx="433754" cy="433754"/>
          </a:xfrm>
          <a:prstGeom prst="rect">
            <a:avLst/>
          </a:prstGeom>
          <a:solidFill>
            <a:srgbClr val="44AE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696506" y="5864620"/>
            <a:ext cx="14402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E134E"/>
                </a:solidFill>
                <a:latin typeface="Arial"/>
                <a:ea typeface="Arial"/>
                <a:cs typeface="Arial"/>
                <a:sym typeface="Arial"/>
              </a:rPr>
              <a:t>scanning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2843324" y="5869962"/>
            <a:ext cx="21043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reconstruction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5634830" y="5890832"/>
            <a:ext cx="210435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segmentation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8968894" y="5878148"/>
            <a:ext cx="20025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947E"/>
                </a:solidFill>
                <a:latin typeface="Arial"/>
                <a:ea typeface="Arial"/>
                <a:cs typeface="Arial"/>
                <a:sym typeface="Arial"/>
              </a:rPr>
              <a:t>3D rendering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2"/>
          <p:cNvPicPr preferRelativeResize="0"/>
          <p:nvPr/>
        </p:nvPicPr>
        <p:blipFill rotWithShape="1">
          <a:blip r:embed="rId3">
            <a:alphaModFix/>
          </a:blip>
          <a:srcRect l="13760" t="23627" r="4062" b="17186"/>
          <a:stretch/>
        </p:blipFill>
        <p:spPr>
          <a:xfrm rot="5400000">
            <a:off x="-1035363" y="2446272"/>
            <a:ext cx="4884767" cy="1978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2"/>
          <p:cNvPicPr preferRelativeResize="0"/>
          <p:nvPr/>
        </p:nvPicPr>
        <p:blipFill rotWithShape="1">
          <a:blip r:embed="rId4">
            <a:alphaModFix/>
          </a:blip>
          <a:srcRect l="38264" t="3353" r="36774" b="7175"/>
          <a:stretch/>
        </p:blipFill>
        <p:spPr>
          <a:xfrm>
            <a:off x="9771887" y="1004128"/>
            <a:ext cx="2002585" cy="4874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2"/>
          <p:cNvPicPr preferRelativeResize="0"/>
          <p:nvPr/>
        </p:nvPicPr>
        <p:blipFill rotWithShape="1">
          <a:blip r:embed="rId5">
            <a:alphaModFix/>
          </a:blip>
          <a:srcRect l="38951" r="33555" b="3162"/>
          <a:stretch/>
        </p:blipFill>
        <p:spPr>
          <a:xfrm>
            <a:off x="8170696" y="1004128"/>
            <a:ext cx="1544418" cy="48740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12"/>
          <p:cNvGrpSpPr/>
          <p:nvPr/>
        </p:nvGrpSpPr>
        <p:grpSpPr>
          <a:xfrm rot="5400000">
            <a:off x="-3218791" y="2724820"/>
            <a:ext cx="4646735" cy="1196661"/>
            <a:chOff x="537387" y="909286"/>
            <a:chExt cx="11117226" cy="3234089"/>
          </a:xfrm>
        </p:grpSpPr>
        <p:pic>
          <p:nvPicPr>
            <p:cNvPr id="288" name="Google Shape;288;p12"/>
            <p:cNvPicPr preferRelativeResize="0"/>
            <p:nvPr/>
          </p:nvPicPr>
          <p:blipFill rotWithShape="1">
            <a:blip r:embed="rId6">
              <a:alphaModFix/>
            </a:blip>
            <a:srcRect b="50000"/>
            <a:stretch/>
          </p:blipFill>
          <p:spPr>
            <a:xfrm>
              <a:off x="537387" y="909286"/>
              <a:ext cx="11117226" cy="25197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1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50921" y="3095584"/>
              <a:ext cx="10890158" cy="10477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0" name="Google Shape;290;p12"/>
          <p:cNvSpPr/>
          <p:nvPr/>
        </p:nvSpPr>
        <p:spPr>
          <a:xfrm>
            <a:off x="9154633" y="5599063"/>
            <a:ext cx="560481" cy="163784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6357442" y="6491962"/>
            <a:ext cx="57274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images: smsmith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2" title="Screenshot 2025-04-03 110446.png"/>
          <p:cNvPicPr preferRelativeResize="0"/>
          <p:nvPr/>
        </p:nvPicPr>
        <p:blipFill rotWithShape="1">
          <a:blip r:embed="rId8">
            <a:alphaModFix/>
          </a:blip>
          <a:srcRect b="2028"/>
          <a:stretch/>
        </p:blipFill>
        <p:spPr>
          <a:xfrm>
            <a:off x="2623900" y="1004125"/>
            <a:ext cx="2572000" cy="47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2" title="Screenshot 2025-04-03 110512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94476" y="1004125"/>
            <a:ext cx="2548375" cy="483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/>
        </p:nvSpPr>
        <p:spPr>
          <a:xfrm>
            <a:off x="1526197" y="150768"/>
            <a:ext cx="913960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rgbClr val="0E134E"/>
                </a:solidFill>
                <a:latin typeface="Arial"/>
                <a:ea typeface="Arial"/>
                <a:cs typeface="Arial"/>
                <a:sym typeface="Arial"/>
              </a:rPr>
              <a:t>tell me a little about 3D Slicer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9060" y="1074098"/>
            <a:ext cx="6436658" cy="402291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206187" y="5252482"/>
            <a:ext cx="1198581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“3D Slicer is a </a:t>
            </a:r>
            <a:r>
              <a:rPr lang="en-US" sz="2400" b="1" i="0" u="none" strike="noStrike" cap="none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free</a:t>
            </a:r>
            <a:r>
              <a:rPr lang="en-US" sz="2400" b="0" i="0" u="none" strike="noStrike" cap="none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1" i="0" u="none" strike="noStrike" cap="none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open source</a:t>
            </a:r>
            <a:r>
              <a:rPr lang="en-US" sz="2400" b="0" i="0" u="none" strike="noStrike" cap="none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for visualization, processing, segmentation, registration, and analysis of medical, biomedical, and other 3D images and meshes; and planning and navigating image-guided procedures.”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–The Slicer Website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439" y="2563587"/>
            <a:ext cx="2968570" cy="296857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6357442" y="6491962"/>
            <a:ext cx="57274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images: smsmith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t="4114"/>
          <a:stretch/>
        </p:blipFill>
        <p:spPr>
          <a:xfrm>
            <a:off x="1084950" y="126459"/>
            <a:ext cx="10022099" cy="6575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l="2005" r="1924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592B652B-F590-F5A1-1DEB-263BE347D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8CEF54-61B3-B1FE-F08A-5F7ECF92C2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5" r="394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56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2C58C5C4-07C0-7AF2-E81E-EFED5C318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363058-4234-23C4-606C-27F2E7B110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8"/>
          <a:stretch/>
        </p:blipFill>
        <p:spPr>
          <a:xfrm>
            <a:off x="0" y="0"/>
            <a:ext cx="12192000" cy="692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37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 txBox="1"/>
          <p:nvPr/>
        </p:nvSpPr>
        <p:spPr>
          <a:xfrm>
            <a:off x="882936" y="2452059"/>
            <a:ext cx="9956699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what do </a:t>
            </a:r>
            <a:r>
              <a:rPr lang="en-US" sz="4000" b="0" i="0" u="none" strike="noStrike" cap="none" dirty="0" smtClean="0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XCT </a:t>
            </a:r>
            <a:r>
              <a:rPr lang="en-US" sz="4000" b="0" i="0" u="none" strike="noStrike" cap="none" dirty="0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data look like in Slicer, and what can you do with them in there?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0" y="0"/>
            <a:ext cx="433754" cy="433754"/>
          </a:xfrm>
          <a:prstGeom prst="rect">
            <a:avLst/>
          </a:prstGeom>
          <a:solidFill>
            <a:srgbClr val="44AE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"/>
          <p:cNvSpPr txBox="1">
            <a:spLocks noGrp="1"/>
          </p:cNvSpPr>
          <p:nvPr>
            <p:ph type="title"/>
          </p:nvPr>
        </p:nvSpPr>
        <p:spPr>
          <a:xfrm>
            <a:off x="838200" y="291237"/>
            <a:ext cx="10515600" cy="5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AE8A"/>
              </a:buClr>
              <a:buSzPct val="100000"/>
              <a:buFont typeface="Arial"/>
              <a:buNone/>
            </a:pPr>
            <a:r>
              <a:rPr lang="en-US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workflow for computed tomography (CT) data</a:t>
            </a:r>
            <a:endParaRPr/>
          </a:p>
        </p:txBody>
      </p:sp>
      <p:pic>
        <p:nvPicPr>
          <p:cNvPr id="306" name="Google Shape;30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684" y="2121095"/>
            <a:ext cx="1612947" cy="1297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4"/>
          <p:cNvPicPr preferRelativeResize="0"/>
          <p:nvPr/>
        </p:nvPicPr>
        <p:blipFill rotWithShape="1">
          <a:blip r:embed="rId4">
            <a:alphaModFix/>
          </a:blip>
          <a:srcRect l="-11035" t="-5288" r="-11036" b="-14487"/>
          <a:stretch/>
        </p:blipFill>
        <p:spPr>
          <a:xfrm>
            <a:off x="3175001" y="2302120"/>
            <a:ext cx="1068396" cy="1048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4"/>
          <p:cNvPicPr preferRelativeResize="0"/>
          <p:nvPr/>
        </p:nvPicPr>
        <p:blipFill rotWithShape="1">
          <a:blip r:embed="rId5">
            <a:alphaModFix/>
          </a:blip>
          <a:srcRect r="-3383"/>
          <a:stretch/>
        </p:blipFill>
        <p:spPr>
          <a:xfrm>
            <a:off x="4968680" y="1026943"/>
            <a:ext cx="2109802" cy="123522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4"/>
          <p:cNvSpPr txBox="1"/>
          <p:nvPr/>
        </p:nvSpPr>
        <p:spPr>
          <a:xfrm>
            <a:off x="446644" y="1843846"/>
            <a:ext cx="14670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Stack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3175000" y="1932788"/>
            <a:ext cx="11163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 Slicer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14"/>
          <p:cNvPicPr preferRelativeResize="0"/>
          <p:nvPr/>
        </p:nvPicPr>
        <p:blipFill rotWithShape="1">
          <a:blip r:embed="rId6">
            <a:alphaModFix/>
          </a:blip>
          <a:srcRect l="6908" t="17903" r="4821" b="12441"/>
          <a:stretch/>
        </p:blipFill>
        <p:spPr>
          <a:xfrm>
            <a:off x="5037760" y="3300058"/>
            <a:ext cx="2040722" cy="81370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4"/>
          <p:cNvSpPr txBox="1"/>
          <p:nvPr/>
        </p:nvSpPr>
        <p:spPr>
          <a:xfrm>
            <a:off x="5079409" y="920953"/>
            <a:ext cx="2082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Volume Rendering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5295460" y="2985780"/>
            <a:ext cx="14157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2199" y="5634306"/>
            <a:ext cx="2230374" cy="95906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4"/>
          <p:cNvSpPr txBox="1"/>
          <p:nvPr/>
        </p:nvSpPr>
        <p:spPr>
          <a:xfrm>
            <a:off x="5953040" y="5361383"/>
            <a:ext cx="18004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Export to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1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4299" y="5084151"/>
            <a:ext cx="1556635" cy="155663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4"/>
          <p:cNvSpPr txBox="1"/>
          <p:nvPr/>
        </p:nvSpPr>
        <p:spPr>
          <a:xfrm>
            <a:off x="10105447" y="4899485"/>
            <a:ext cx="13260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3D Printing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4" descr="Ruler with solid fill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23651" y="130659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4"/>
          <p:cNvSpPr txBox="1"/>
          <p:nvPr/>
        </p:nvSpPr>
        <p:spPr>
          <a:xfrm>
            <a:off x="8070086" y="937261"/>
            <a:ext cx="24160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Measurements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14"/>
          <p:cNvPicPr preferRelativeResize="0"/>
          <p:nvPr/>
        </p:nvPicPr>
        <p:blipFill rotWithShape="1">
          <a:blip r:embed="rId10">
            <a:alphaModFix/>
          </a:blip>
          <a:srcRect l="-5269" r="1"/>
          <a:stretch/>
        </p:blipFill>
        <p:spPr>
          <a:xfrm>
            <a:off x="9409621" y="2482284"/>
            <a:ext cx="2046266" cy="10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4"/>
          <p:cNvSpPr txBox="1"/>
          <p:nvPr/>
        </p:nvSpPr>
        <p:spPr>
          <a:xfrm>
            <a:off x="9459124" y="2081961"/>
            <a:ext cx="20954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 Statistics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14" descr="Mandibular 3D surface, landmark and semilandmark templates. Light blue... |  Download Scientific Diagram"/>
          <p:cNvPicPr preferRelativeResize="0"/>
          <p:nvPr/>
        </p:nvPicPr>
        <p:blipFill rotWithShape="1">
          <a:blip r:embed="rId11">
            <a:alphaModFix/>
          </a:blip>
          <a:srcRect t="59451"/>
          <a:stretch/>
        </p:blipFill>
        <p:spPr>
          <a:xfrm flipH="1">
            <a:off x="7767718" y="4537432"/>
            <a:ext cx="1955618" cy="86463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4"/>
          <p:cNvSpPr txBox="1"/>
          <p:nvPr/>
        </p:nvSpPr>
        <p:spPr>
          <a:xfrm>
            <a:off x="7646853" y="4148878"/>
            <a:ext cx="24801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Landmarking for GMM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" name="Google Shape;324;p14"/>
          <p:cNvCxnSpPr>
            <a:stCxn id="306" idx="3"/>
            <a:endCxn id="307" idx="1"/>
          </p:cNvCxnSpPr>
          <p:nvPr/>
        </p:nvCxnSpPr>
        <p:spPr>
          <a:xfrm>
            <a:off x="2058631" y="2769867"/>
            <a:ext cx="1116300" cy="56400"/>
          </a:xfrm>
          <a:prstGeom prst="curvedConnector3">
            <a:avLst>
              <a:gd name="adj1" fmla="val 5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5" name="Google Shape;325;p14"/>
          <p:cNvCxnSpPr>
            <a:stCxn id="307" idx="3"/>
            <a:endCxn id="308" idx="1"/>
          </p:cNvCxnSpPr>
          <p:nvPr/>
        </p:nvCxnSpPr>
        <p:spPr>
          <a:xfrm rot="10800000" flipH="1">
            <a:off x="4243397" y="1644563"/>
            <a:ext cx="725400" cy="1181700"/>
          </a:xfrm>
          <a:prstGeom prst="curvedConnector3">
            <a:avLst>
              <a:gd name="adj1" fmla="val 49992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6" name="Google Shape;326;p14"/>
          <p:cNvCxnSpPr>
            <a:stCxn id="307" idx="3"/>
            <a:endCxn id="311" idx="1"/>
          </p:cNvCxnSpPr>
          <p:nvPr/>
        </p:nvCxnSpPr>
        <p:spPr>
          <a:xfrm>
            <a:off x="4243397" y="2826264"/>
            <a:ext cx="794400" cy="880500"/>
          </a:xfrm>
          <a:prstGeom prst="curvedConnector3">
            <a:avLst>
              <a:gd name="adj1" fmla="val 49998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7" name="Google Shape;327;p14"/>
          <p:cNvCxnSpPr>
            <a:stCxn id="311" idx="2"/>
            <a:endCxn id="314" idx="1"/>
          </p:cNvCxnSpPr>
          <p:nvPr/>
        </p:nvCxnSpPr>
        <p:spPr>
          <a:xfrm rot="5400000">
            <a:off x="4885121" y="4940859"/>
            <a:ext cx="2000100" cy="345900"/>
          </a:xfrm>
          <a:prstGeom prst="curvedConnector4">
            <a:avLst>
              <a:gd name="adj1" fmla="val 38012"/>
              <a:gd name="adj2" fmla="val 166095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8" name="Google Shape;328;p14"/>
          <p:cNvCxnSpPr>
            <a:stCxn id="314" idx="3"/>
            <a:endCxn id="316" idx="1"/>
          </p:cNvCxnSpPr>
          <p:nvPr/>
        </p:nvCxnSpPr>
        <p:spPr>
          <a:xfrm rot="10800000" flipH="1">
            <a:off x="7942573" y="5862437"/>
            <a:ext cx="2081700" cy="251400"/>
          </a:xfrm>
          <a:prstGeom prst="curvedConnector3">
            <a:avLst>
              <a:gd name="adj1" fmla="val 5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9" name="Google Shape;329;p14"/>
          <p:cNvCxnSpPr>
            <a:stCxn id="311" idx="3"/>
            <a:endCxn id="322" idx="3"/>
          </p:cNvCxnSpPr>
          <p:nvPr/>
        </p:nvCxnSpPr>
        <p:spPr>
          <a:xfrm>
            <a:off x="7078482" y="3706909"/>
            <a:ext cx="689100" cy="1262700"/>
          </a:xfrm>
          <a:prstGeom prst="curvedConnector3">
            <a:avLst>
              <a:gd name="adj1" fmla="val 5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0" name="Google Shape;330;p14"/>
          <p:cNvCxnSpPr>
            <a:stCxn id="311" idx="3"/>
            <a:endCxn id="320" idx="1"/>
          </p:cNvCxnSpPr>
          <p:nvPr/>
        </p:nvCxnSpPr>
        <p:spPr>
          <a:xfrm rot="10800000" flipH="1">
            <a:off x="7078482" y="3006409"/>
            <a:ext cx="2331000" cy="700500"/>
          </a:xfrm>
          <a:prstGeom prst="curvedConnector3">
            <a:avLst>
              <a:gd name="adj1" fmla="val 5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1" name="Google Shape;331;p14"/>
          <p:cNvCxnSpPr>
            <a:stCxn id="311" idx="3"/>
            <a:endCxn id="318" idx="1"/>
          </p:cNvCxnSpPr>
          <p:nvPr/>
        </p:nvCxnSpPr>
        <p:spPr>
          <a:xfrm rot="10800000" flipH="1">
            <a:off x="7078482" y="1763809"/>
            <a:ext cx="1645200" cy="1943100"/>
          </a:xfrm>
          <a:prstGeom prst="curvedConnector3">
            <a:avLst>
              <a:gd name="adj1" fmla="val 5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2" name="Google Shape;332;p14"/>
          <p:cNvCxnSpPr>
            <a:stCxn id="308" idx="3"/>
          </p:cNvCxnSpPr>
          <p:nvPr/>
        </p:nvCxnSpPr>
        <p:spPr>
          <a:xfrm>
            <a:off x="7078482" y="1644556"/>
            <a:ext cx="1645200" cy="119100"/>
          </a:xfrm>
          <a:prstGeom prst="curvedConnector3">
            <a:avLst>
              <a:gd name="adj1" fmla="val 5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33" name="Google Shape;333;p14"/>
          <p:cNvCxnSpPr>
            <a:stCxn id="308" idx="3"/>
            <a:endCxn id="323" idx="0"/>
          </p:cNvCxnSpPr>
          <p:nvPr/>
        </p:nvCxnSpPr>
        <p:spPr>
          <a:xfrm>
            <a:off x="7078482" y="1644556"/>
            <a:ext cx="1808400" cy="2504400"/>
          </a:xfrm>
          <a:prstGeom prst="curvedConnector2">
            <a:avLst/>
          </a:prstGeom>
          <a:noFill/>
          <a:ln w="12700" cap="flat" cmpd="sng">
            <a:solidFill>
              <a:schemeClr val="accent1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336" name="Google Shape;336;p14"/>
          <p:cNvSpPr txBox="1"/>
          <p:nvPr/>
        </p:nvSpPr>
        <p:spPr>
          <a:xfrm>
            <a:off x="2050449" y="2846795"/>
            <a:ext cx="12202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ImageStacks</a:t>
            </a:r>
            <a:endParaRPr sz="1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4573755" y="2222989"/>
            <a:ext cx="16607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Volume Rendering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"/>
          <p:cNvSpPr txBox="1"/>
          <p:nvPr/>
        </p:nvSpPr>
        <p:spPr>
          <a:xfrm>
            <a:off x="3399656" y="3459344"/>
            <a:ext cx="14189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 Editor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 txBox="1"/>
          <p:nvPr/>
        </p:nvSpPr>
        <p:spPr>
          <a:xfrm>
            <a:off x="4065003" y="5237013"/>
            <a:ext cx="142859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Segmentations;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6252587" y="4167894"/>
            <a:ext cx="118974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SlicerMorph;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Markups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 txBox="1"/>
          <p:nvPr/>
        </p:nvSpPr>
        <p:spPr>
          <a:xfrm>
            <a:off x="7585207" y="1377660"/>
            <a:ext cx="8707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Markups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8828780" y="3737686"/>
            <a:ext cx="8707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Markups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6966557" y="2985853"/>
            <a:ext cx="8707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Markups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 txBox="1"/>
          <p:nvPr/>
        </p:nvSpPr>
        <p:spPr>
          <a:xfrm rot="-982080">
            <a:off x="7209062" y="3509233"/>
            <a:ext cx="16690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 Statistics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0" y="6373910"/>
            <a:ext cx="1268470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This slide shamelessly stolen from J.M. Huie!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 Jonathan!!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(https://github.com/jmhuie/SlicerWorkshop_GWU_2024/blob/main/Day_1/GWU_Slicer_Workshop_Day_1.pptx)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0" y="0"/>
            <a:ext cx="433754" cy="433754"/>
          </a:xfrm>
          <a:prstGeom prst="rect">
            <a:avLst/>
          </a:prstGeom>
          <a:solidFill>
            <a:srgbClr val="44AE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0"/>
          <p:cNvSpPr txBox="1"/>
          <p:nvPr/>
        </p:nvSpPr>
        <p:spPr>
          <a:xfrm>
            <a:off x="694678" y="3195953"/>
            <a:ext cx="76066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rgbClr val="0E134E"/>
                </a:solidFill>
                <a:latin typeface="Arial"/>
                <a:ea typeface="Arial"/>
                <a:cs typeface="Arial"/>
                <a:sym typeface="Arial"/>
              </a:rPr>
              <a:t>time to do some </a:t>
            </a:r>
            <a:r>
              <a:rPr lang="en-US" sz="5400" b="0" i="1" u="none" strike="noStrike" cap="none">
                <a:solidFill>
                  <a:srgbClr val="DE3B99"/>
                </a:solidFill>
                <a:latin typeface="Arial"/>
                <a:ea typeface="Arial"/>
                <a:cs typeface="Arial"/>
                <a:sym typeface="Arial"/>
              </a:rPr>
              <a:t>slicing!!</a:t>
            </a:r>
            <a:endParaRPr sz="5400" b="0" i="0" u="none" strike="noStrike" cap="none">
              <a:solidFill>
                <a:srgbClr val="DE3B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0"/>
          <p:cNvSpPr txBox="1"/>
          <p:nvPr/>
        </p:nvSpPr>
        <p:spPr>
          <a:xfrm>
            <a:off x="694678" y="4119283"/>
            <a:ext cx="9906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100" b="0" i="0" u="none" strike="noStrike" cap="none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https://github.com/scutisorex/SlicerWorkshop-0</a:t>
            </a:r>
            <a:r>
              <a:rPr lang="en-US" sz="3100">
                <a:solidFill>
                  <a:srgbClr val="44AE8A"/>
                </a:solidFill>
              </a:rPr>
              <a:t>4</a:t>
            </a:r>
            <a:r>
              <a:rPr lang="en-US" sz="3100" b="0" i="0" u="none" strike="noStrike" cap="none">
                <a:solidFill>
                  <a:srgbClr val="44AE8A"/>
                </a:solidFill>
                <a:latin typeface="Arial"/>
                <a:ea typeface="Arial"/>
                <a:cs typeface="Arial"/>
                <a:sym typeface="Arial"/>
              </a:rPr>
              <a:t>-202</a:t>
            </a:r>
            <a:r>
              <a:rPr lang="en-US" sz="3100">
                <a:solidFill>
                  <a:srgbClr val="44AE8A"/>
                </a:solidFill>
              </a:rPr>
              <a:t>5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648" y="1190220"/>
            <a:ext cx="3157731" cy="4934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643</Words>
  <Application>Microsoft Office PowerPoint</Application>
  <PresentationFormat>Widescreen</PresentationFormat>
  <Paragraphs>87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workflow for computed tomography (CT) 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Stephanie</dc:creator>
  <cp:lastModifiedBy>Stephanie</cp:lastModifiedBy>
  <cp:revision>5</cp:revision>
  <dcterms:created xsi:type="dcterms:W3CDTF">2024-07-03T21:22:07Z</dcterms:created>
  <dcterms:modified xsi:type="dcterms:W3CDTF">2026-09-09T20:35:49Z</dcterms:modified>
</cp:coreProperties>
</file>